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62" r:id="rId2"/>
    <p:sldId id="257" r:id="rId3"/>
    <p:sldId id="270" r:id="rId4"/>
    <p:sldId id="279" r:id="rId5"/>
    <p:sldId id="280" r:id="rId6"/>
    <p:sldId id="261" r:id="rId7"/>
    <p:sldId id="281" r:id="rId8"/>
    <p:sldId id="271" r:id="rId9"/>
    <p:sldId id="274" r:id="rId10"/>
    <p:sldId id="275" r:id="rId11"/>
    <p:sldId id="27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1F8E53-908D-4FD6-A987-4F9253AA8316}" v="23" dt="2026-04-13T21:22:08.841"/>
  </p1510:revLst>
</p1510:revInfo>
</file>

<file path=ppt/tableStyles.xml><?xml version="1.0" encoding="utf-8"?>
<a:tblStyleLst xmlns:a="http://schemas.openxmlformats.org/drawingml/2006/main" def="{69CF1AB2-1976-4502-BF36-3FF5EA218861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272" y="5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Story Points: Planned vs Actual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Planned Points</c:v>
                </c:pt>
              </c:strCache>
            </c:strRef>
          </c:tx>
          <c:spPr>
            <a:solidFill>
              <a:srgbClr val="A5D6A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2A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Sprint 1</c:v>
                </c:pt>
                <c:pt idx="1">
                  <c:v>Sprint 2</c:v>
                </c:pt>
                <c:pt idx="2">
                  <c:v>Sprint 3</c:v>
                </c:pt>
                <c:pt idx="3">
                  <c:v>Sprint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</c:v>
                </c:pt>
                <c:pt idx="1">
                  <c:v>13</c:v>
                </c:pt>
                <c:pt idx="2">
                  <c:v>16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09F-427F-8894-3879BC153BE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 Points</c:v>
                </c:pt>
              </c:strCache>
            </c:strRef>
          </c:tx>
          <c:spPr>
            <a:solidFill>
              <a:srgbClr val="1B5E2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2A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Sprint 1</c:v>
                </c:pt>
                <c:pt idx="1">
                  <c:v>Sprint 2</c:v>
                </c:pt>
                <c:pt idx="2">
                  <c:v>Sprint 3</c:v>
                </c:pt>
                <c:pt idx="3">
                  <c:v>Sprint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14</c:v>
                </c:pt>
                <c:pt idx="1">
                  <c:v>13</c:v>
                </c:pt>
                <c:pt idx="2">
                  <c:v>16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09F-427F-8894-3879BC153BE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5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5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9BCE0C-CD74-4A59-802C-6D2F8C15331A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98501B-77B5-4365-9881-C6E19A3C1E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4561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4FDEA8-CBB8-46CC-9562-028963DBC55A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8BD8E7-1312-41F3-99C4-6DA5AF8919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084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8BD8E7-1312-41F3-99C4-6DA5AF89196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7235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8BD8E7-1312-41F3-99C4-6DA5AF89196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909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304800" y="304800"/>
            <a:ext cx="11582400" cy="6248400"/>
          </a:xfrm>
          <a:prstGeom prst="rect">
            <a:avLst/>
          </a:prstGeom>
          <a:noFill/>
          <a:ln w="50800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548245"/>
            <a:ext cx="10515600" cy="2240280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3854659"/>
            <a:ext cx="10515600" cy="1143000"/>
          </a:xfrm>
        </p:spPr>
        <p:txBody>
          <a:bodyPr>
            <a:normAutofit/>
          </a:bodyPr>
          <a:lstStyle>
            <a:lvl1pPr marL="0" indent="0" algn="ctr"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988627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Pictur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4800600"/>
            <a:ext cx="12192000" cy="2057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5084483"/>
            <a:ext cx="11125200" cy="914400"/>
          </a:xfrm>
        </p:spPr>
        <p:txBody>
          <a:bodyPr anchor="b">
            <a:normAutofit/>
          </a:bodyPr>
          <a:lstStyle>
            <a:lvl1pPr algn="ctr">
              <a:defRPr sz="4400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0"/>
          </p:nvPr>
        </p:nvSpPr>
        <p:spPr>
          <a:xfrm>
            <a:off x="1" y="1"/>
            <a:ext cx="4023360" cy="4745736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1"/>
          </p:nvPr>
        </p:nvSpPr>
        <p:spPr>
          <a:xfrm>
            <a:off x="4084320" y="1"/>
            <a:ext cx="4023360" cy="4745736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2"/>
          </p:nvPr>
        </p:nvSpPr>
        <p:spPr>
          <a:xfrm>
            <a:off x="8168640" y="1"/>
            <a:ext cx="4023360" cy="4745736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6043123"/>
            <a:ext cx="11125200" cy="57150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4637454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304800" y="304800"/>
            <a:ext cx="11582400" cy="6248400"/>
          </a:xfrm>
          <a:prstGeom prst="rect">
            <a:avLst/>
          </a:prstGeom>
          <a:noFill/>
          <a:ln w="50800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2483427"/>
            <a:ext cx="10515600" cy="2743200"/>
          </a:xfrm>
        </p:spPr>
        <p:txBody>
          <a:bodyPr anchor="b">
            <a:normAutofit/>
          </a:bodyPr>
          <a:lstStyle>
            <a:lvl1pPr algn="ctr">
              <a:defRPr sz="4400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835025" y="5257800"/>
            <a:ext cx="10515600" cy="91440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000" cap="all" spc="50" baseline="0">
                <a:solidFill>
                  <a:schemeClr val="bg1"/>
                </a:solidFill>
              </a:defRPr>
            </a:lvl1pPr>
            <a:lvl2pPr marL="365760" indent="0" algn="ctr">
              <a:buNone/>
              <a:defRPr sz="2000" cap="all" spc="50" baseline="0">
                <a:solidFill>
                  <a:schemeClr val="bg1"/>
                </a:solidFill>
              </a:defRPr>
            </a:lvl2pPr>
            <a:lvl3pPr algn="ctr">
              <a:defRPr sz="2000" cap="all" spc="50" baseline="0">
                <a:solidFill>
                  <a:schemeClr val="bg1"/>
                </a:solidFill>
              </a:defRPr>
            </a:lvl3pPr>
            <a:lvl4pPr algn="ctr">
              <a:defRPr sz="2000" cap="all" spc="50" baseline="0">
                <a:solidFill>
                  <a:schemeClr val="bg1"/>
                </a:solidFill>
              </a:defRPr>
            </a:lvl4pPr>
            <a:lvl5pPr algn="ctr">
              <a:defRPr sz="2000" cap="all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67780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0" y="1714500"/>
            <a:ext cx="4495800" cy="446227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714500"/>
            <a:ext cx="4495800" cy="446227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7048" y="1733162"/>
            <a:ext cx="4498848" cy="6858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 cap="all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7048" y="2481943"/>
            <a:ext cx="4498848" cy="369025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733162"/>
            <a:ext cx="4498848" cy="6858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 cap="all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481943"/>
            <a:ext cx="4498848" cy="369025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51812" y="1672934"/>
            <a:ext cx="3506788" cy="2880360"/>
          </a:xfrm>
        </p:spPr>
        <p:txBody>
          <a:bodyPr anchor="b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0352" y="457200"/>
            <a:ext cx="7242111" cy="5715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51812" y="4590288"/>
            <a:ext cx="3514564" cy="1581912"/>
          </a:xfrm>
        </p:spPr>
        <p:txBody>
          <a:bodyPr/>
          <a:lstStyle>
            <a:lvl1pPr marL="0" indent="0">
              <a:spcBef>
                <a:spcPts val="8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8153400" y="0"/>
            <a:ext cx="40386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2813" y="1683327"/>
            <a:ext cx="3125787" cy="2877260"/>
          </a:xfrm>
        </p:spPr>
        <p:txBody>
          <a:bodyPr anchor="b">
            <a:norm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0" y="0"/>
            <a:ext cx="8101584" cy="6857999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32813" y="4591761"/>
            <a:ext cx="3125787" cy="1580440"/>
          </a:xfrm>
        </p:spPr>
        <p:txBody>
          <a:bodyPr/>
          <a:lstStyle>
            <a:lvl1pPr marL="0" indent="0">
              <a:spcBef>
                <a:spcPts val="8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77249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57200"/>
            <a:ext cx="1943100" cy="5719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0" y="457200"/>
            <a:ext cx="7048500" cy="5719762"/>
          </a:xfrm>
        </p:spPr>
        <p:txBody>
          <a:bodyPr vert="eaVert"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00" y="457200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1714500"/>
            <a:ext cx="9144000" cy="4457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3999" y="6601556"/>
            <a:ext cx="6491381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187908" y="6601556"/>
            <a:ext cx="1534064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37CC0096-1860-4642-9CD2-0079EA5E7CD1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94499" y="6601556"/>
            <a:ext cx="773502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 cap="all" baseline="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>
            <a:lumMod val="50000"/>
          </a:schemeClr>
        </a:buClr>
        <a:buSzPct val="100000"/>
        <a:buFont typeface="Arial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50000"/>
          </a:schemeClr>
        </a:buClr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50000"/>
          </a:schemeClr>
        </a:buClr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50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50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9164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50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50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4884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50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50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4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4677229"/>
            <a:ext cx="11125200" cy="914400"/>
          </a:xfrm>
        </p:spPr>
        <p:txBody>
          <a:bodyPr>
            <a:normAutofit/>
          </a:bodyPr>
          <a:lstStyle/>
          <a:p>
            <a:r>
              <a:rPr lang="en-US" sz="5400" b="1" err="1"/>
              <a:t>mealmajor</a:t>
            </a:r>
            <a:endParaRPr lang="en-US" sz="5400" b="1"/>
          </a:p>
        </p:txBody>
      </p:sp>
      <p:pic>
        <p:nvPicPr>
          <p:cNvPr id="7" name="Picture Placeholder 6" descr="Elderly woman finishing a marathon"/>
          <p:cNvPicPr>
            <a:picLocks noGrp="1" noChangeAspect="1"/>
          </p:cNvPicPr>
          <p:nvPr>
            <p:ph type="pic" idx="10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pic>
        <p:nvPicPr>
          <p:cNvPr id="8" name="Picture Placeholder 7" descr="Closeup of Granny Smith apple and tape measure"/>
          <p:cNvPicPr>
            <a:picLocks noGrp="1" noChangeAspect="1"/>
          </p:cNvPicPr>
          <p:nvPr>
            <p:ph type="pic" idx="11"/>
          </p:nvPr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 b="19"/>
          <a:stretch/>
        </p:blipFill>
        <p:spPr/>
      </p:pic>
      <p:pic>
        <p:nvPicPr>
          <p:cNvPr id="9" name="Picture Placeholder 8" descr="Man and woman running on indoor track"/>
          <p:cNvPicPr>
            <a:picLocks noGrp="1" noChangeAspect="1"/>
          </p:cNvPicPr>
          <p:nvPr>
            <p:ph type="pic" idx="12"/>
          </p:nvPr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" b="39"/>
          <a:stretch/>
        </p:blipFill>
        <p:spPr/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5474505"/>
            <a:ext cx="11125200" cy="571500"/>
          </a:xfrm>
        </p:spPr>
        <p:txBody>
          <a:bodyPr>
            <a:normAutofit/>
          </a:bodyPr>
          <a:lstStyle/>
          <a:p>
            <a:r>
              <a:rPr lang="en-US" sz="2800"/>
              <a:t>The Cool group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BA78F73-95BD-02DD-436F-F17CC2C9CAA2}"/>
              </a:ext>
            </a:extLst>
          </p:cNvPr>
          <p:cNvSpPr txBox="1">
            <a:spLocks/>
          </p:cNvSpPr>
          <p:nvPr/>
        </p:nvSpPr>
        <p:spPr>
          <a:xfrm>
            <a:off x="533400" y="6034647"/>
            <a:ext cx="11125200" cy="571500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>
                  <a:lumMod val="50000"/>
                </a:schemeClr>
              </a:buClr>
              <a:buSzPct val="100000"/>
              <a:buFont typeface="Arial" pitchFamily="34" charset="0"/>
              <a:buNone/>
              <a:defRPr sz="2000" kern="1200" cap="all" spc="5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50000"/>
                </a:schemeClr>
              </a:buClr>
              <a:buSzPct val="100000"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50000"/>
                </a:schemeClr>
              </a:buClr>
              <a:buSzPct val="100000"/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50000"/>
                </a:schemeClr>
              </a:buClr>
              <a:buSzPct val="100000"/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50000"/>
                </a:schemeClr>
              </a:buClr>
              <a:buSzPct val="100000"/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50000"/>
                </a:schemeClr>
              </a:buClr>
              <a:buSzPct val="100000"/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50000"/>
                </a:schemeClr>
              </a:buClr>
              <a:buSzPct val="100000"/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50000"/>
                </a:schemeClr>
              </a:buClr>
              <a:buSzPct val="100000"/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50000"/>
                </a:schemeClr>
              </a:buClr>
              <a:buSzPct val="100000"/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>
                <a:latin typeface="Calibri" pitchFamily="34" charset="0"/>
                <a:ea typeface="Calibri" pitchFamily="34" charset="-122"/>
                <a:cs typeface="Calibri" pitchFamily="34" charset="-120"/>
              </a:rPr>
              <a:t>Marie Ella Cambay •  Charles Dahan•  </a:t>
            </a:r>
            <a:r>
              <a:rPr lang="en-US" sz="2800" err="1">
                <a:latin typeface="Calibri" pitchFamily="34" charset="0"/>
                <a:ea typeface="Calibri" pitchFamily="34" charset="-122"/>
                <a:cs typeface="Calibri" pitchFamily="34" charset="-120"/>
              </a:rPr>
              <a:t>Ilyess</a:t>
            </a:r>
            <a:r>
              <a:rPr lang="en-US" sz="280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err="1">
                <a:latin typeface="Calibri" pitchFamily="34" charset="0"/>
                <a:ea typeface="Calibri" pitchFamily="34" charset="-122"/>
                <a:cs typeface="Calibri" pitchFamily="34" charset="-120"/>
              </a:rPr>
              <a:t>Diyane</a:t>
            </a:r>
            <a:endParaRPr lang="en-US" sz="2800"/>
          </a:p>
          <a:p>
            <a:r>
              <a:rPr lang="en-US" sz="2800">
                <a:latin typeface="Calibri" pitchFamily="34" charset="0"/>
                <a:ea typeface="Calibri" pitchFamily="34" charset="-122"/>
                <a:cs typeface="Calibri" pitchFamily="34" charset="-120"/>
              </a:rPr>
              <a:t>Frederic Gagne •  Pablo Hermandez •  Quentin </a:t>
            </a:r>
            <a:r>
              <a:rPr lang="en-US" sz="2800" err="1">
                <a:latin typeface="Calibri" pitchFamily="34" charset="0"/>
                <a:ea typeface="Calibri" pitchFamily="34" charset="-122"/>
                <a:cs typeface="Calibri" pitchFamily="34" charset="-120"/>
              </a:rPr>
              <a:t>Malichecq</a:t>
            </a:r>
            <a:r>
              <a:rPr lang="en-US" sz="2800">
                <a:latin typeface="Calibri" pitchFamily="34" charset="0"/>
                <a:ea typeface="Calibri" pitchFamily="34" charset="-122"/>
                <a:cs typeface="Calibri" pitchFamily="34" charset="-120"/>
              </a:rPr>
              <a:t>-Laroche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3034687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2535" y="629920"/>
            <a:ext cx="6884670" cy="1143000"/>
          </a:xfrm>
        </p:spPr>
        <p:txBody>
          <a:bodyPr>
            <a:normAutofit/>
          </a:bodyPr>
          <a:lstStyle/>
          <a:p>
            <a:r>
              <a:rPr lang="en-US" sz="6000" b="1"/>
              <a:t>Problem statement</a:t>
            </a:r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E4AE6D35-7746-7996-2A34-EF8FF9D79265}"/>
              </a:ext>
            </a:extLst>
          </p:cNvPr>
          <p:cNvSpPr/>
          <p:nvPr/>
        </p:nvSpPr>
        <p:spPr>
          <a:xfrm>
            <a:off x="1647190" y="2001520"/>
            <a:ext cx="27432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8EDF89F5-A505-6893-44C5-66998C8225F7}"/>
              </a:ext>
            </a:extLst>
          </p:cNvPr>
          <p:cNvSpPr/>
          <p:nvPr/>
        </p:nvSpPr>
        <p:spPr>
          <a:xfrm>
            <a:off x="1647190" y="2001520"/>
            <a:ext cx="2743200" cy="41148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FD892CEB-3AA1-5236-2080-134F539AEF81}"/>
              </a:ext>
            </a:extLst>
          </p:cNvPr>
          <p:cNvSpPr/>
          <p:nvPr/>
        </p:nvSpPr>
        <p:spPr>
          <a:xfrm>
            <a:off x="1784350" y="247700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>
                <a:solidFill>
                  <a:srgbClr val="1A2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Structured Planning</a:t>
            </a:r>
            <a:endParaRPr lang="en-US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70538ED6-A083-A5B0-5AC5-58479DA47E17}"/>
              </a:ext>
            </a:extLst>
          </p:cNvPr>
          <p:cNvSpPr/>
          <p:nvPr/>
        </p:nvSpPr>
        <p:spPr>
          <a:xfrm>
            <a:off x="1784350" y="3053080"/>
            <a:ext cx="2468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>
                <a:solidFill>
                  <a:srgbClr val="546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don’t plan meals, leading to poor nutrition and wasted time</a:t>
            </a:r>
            <a:endParaRPr lang="en-US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1BEE910A-7A7D-5D5B-12E1-02458202475B}"/>
              </a:ext>
            </a:extLst>
          </p:cNvPr>
          <p:cNvSpPr/>
          <p:nvPr/>
        </p:nvSpPr>
        <p:spPr>
          <a:xfrm>
            <a:off x="4573270" y="2001520"/>
            <a:ext cx="27432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1F3F1AB7-9E6D-9F38-3F16-57CFB5ED7B93}"/>
              </a:ext>
            </a:extLst>
          </p:cNvPr>
          <p:cNvSpPr/>
          <p:nvPr/>
        </p:nvSpPr>
        <p:spPr>
          <a:xfrm>
            <a:off x="4573270" y="2001520"/>
            <a:ext cx="2743200" cy="411480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9C9ABF69-E560-F2B1-4F10-E13DC5144A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7710" y="2070100"/>
            <a:ext cx="274320" cy="274320"/>
          </a:xfrm>
          <a:prstGeom prst="rect">
            <a:avLst/>
          </a:prstGeom>
        </p:spPr>
      </p:pic>
      <p:sp>
        <p:nvSpPr>
          <p:cNvPr id="14" name="Text 8">
            <a:extLst>
              <a:ext uri="{FF2B5EF4-FFF2-40B4-BE49-F238E27FC236}">
                <a16:creationId xmlns:a16="http://schemas.microsoft.com/office/drawing/2014/main" id="{5F7386C8-5C73-250C-3B66-FC2DDC68F805}"/>
              </a:ext>
            </a:extLst>
          </p:cNvPr>
          <p:cNvSpPr/>
          <p:nvPr/>
        </p:nvSpPr>
        <p:spPr>
          <a:xfrm>
            <a:off x="4710430" y="247700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>
                <a:solidFill>
                  <a:srgbClr val="1A2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Grocery Inefficiency</a:t>
            </a:r>
            <a:endParaRPr lang="en-US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8B59C82C-4E59-9D0C-DF39-57A30C31AA12}"/>
              </a:ext>
            </a:extLst>
          </p:cNvPr>
          <p:cNvSpPr/>
          <p:nvPr/>
        </p:nvSpPr>
        <p:spPr>
          <a:xfrm>
            <a:off x="4710430" y="3053080"/>
            <a:ext cx="2468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>
                <a:solidFill>
                  <a:srgbClr val="546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Buying groceries without a plan causes overspending and food waste</a:t>
            </a:r>
            <a:endParaRPr lang="en-US"/>
          </a:p>
        </p:txBody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16FDDB9B-5F80-9134-F183-29888E8858F3}"/>
              </a:ext>
            </a:extLst>
          </p:cNvPr>
          <p:cNvSpPr/>
          <p:nvPr/>
        </p:nvSpPr>
        <p:spPr>
          <a:xfrm>
            <a:off x="7499350" y="2001520"/>
            <a:ext cx="27432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1">
            <a:extLst>
              <a:ext uri="{FF2B5EF4-FFF2-40B4-BE49-F238E27FC236}">
                <a16:creationId xmlns:a16="http://schemas.microsoft.com/office/drawing/2014/main" id="{161C5BC9-F96B-B6F1-FE85-8EC97B18A117}"/>
              </a:ext>
            </a:extLst>
          </p:cNvPr>
          <p:cNvSpPr/>
          <p:nvPr/>
        </p:nvSpPr>
        <p:spPr>
          <a:xfrm>
            <a:off x="7499350" y="2001520"/>
            <a:ext cx="2743200" cy="411480"/>
          </a:xfrm>
          <a:prstGeom prst="rect">
            <a:avLst/>
          </a:prstGeom>
          <a:solidFill>
            <a:srgbClr val="92D050"/>
          </a:solidFill>
          <a:ln w="12700">
            <a:solidFill>
              <a:srgbClr val="92D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>
            <a:extLst>
              <a:ext uri="{FF2B5EF4-FFF2-40B4-BE49-F238E27FC236}">
                <a16:creationId xmlns:a16="http://schemas.microsoft.com/office/drawing/2014/main" id="{BC207C63-B301-DC01-4523-F1134E2F7F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3790" y="2070100"/>
            <a:ext cx="274320" cy="274320"/>
          </a:xfrm>
          <a:prstGeom prst="rect">
            <a:avLst/>
          </a:prstGeom>
        </p:spPr>
      </p:pic>
      <p:sp>
        <p:nvSpPr>
          <p:cNvPr id="19" name="Text 12">
            <a:extLst>
              <a:ext uri="{FF2B5EF4-FFF2-40B4-BE49-F238E27FC236}">
                <a16:creationId xmlns:a16="http://schemas.microsoft.com/office/drawing/2014/main" id="{C88572E8-F30C-D82D-F1B4-0BACF87CD316}"/>
              </a:ext>
            </a:extLst>
          </p:cNvPr>
          <p:cNvSpPr/>
          <p:nvPr/>
        </p:nvSpPr>
        <p:spPr>
          <a:xfrm>
            <a:off x="7636510" y="247700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>
                <a:solidFill>
                  <a:srgbClr val="1A2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Recipe Discovery Gap</a:t>
            </a:r>
            <a:endParaRPr lang="en-US"/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80E82CD9-CBC7-9074-4BFB-7FF450AC51DE}"/>
              </a:ext>
            </a:extLst>
          </p:cNvPr>
          <p:cNvSpPr/>
          <p:nvPr/>
        </p:nvSpPr>
        <p:spPr>
          <a:xfrm>
            <a:off x="7636510" y="3053080"/>
            <a:ext cx="2468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>
                <a:solidFill>
                  <a:srgbClr val="546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tool to find store recipes</a:t>
            </a:r>
            <a:endParaRPr lang="en-US"/>
          </a:p>
        </p:txBody>
      </p:sp>
      <p:pic>
        <p:nvPicPr>
          <p:cNvPr id="22" name="Graphic 21" descr="Thumbs Down with solid fill">
            <a:extLst>
              <a:ext uri="{FF2B5EF4-FFF2-40B4-BE49-F238E27FC236}">
                <a16:creationId xmlns:a16="http://schemas.microsoft.com/office/drawing/2014/main" id="{E0044D35-DC50-AD24-774F-0E66F87138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87345" y="2070100"/>
            <a:ext cx="305181" cy="305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970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9" grpId="0" animBg="1"/>
      <p:bldP spid="2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64592"/>
            <a:ext cx="6762750" cy="1143000"/>
          </a:xfrm>
        </p:spPr>
        <p:txBody>
          <a:bodyPr>
            <a:normAutofit/>
          </a:bodyPr>
          <a:lstStyle/>
          <a:p>
            <a:r>
              <a:rPr lang="en-US" sz="6000" b="1"/>
              <a:t>Solution overview</a:t>
            </a:r>
          </a:p>
        </p:txBody>
      </p:sp>
      <p:sp>
        <p:nvSpPr>
          <p:cNvPr id="31" name="Shape 2">
            <a:extLst>
              <a:ext uri="{FF2B5EF4-FFF2-40B4-BE49-F238E27FC236}">
                <a16:creationId xmlns:a16="http://schemas.microsoft.com/office/drawing/2014/main" id="{F295F902-15DD-3067-1C71-FBEEBD7F920A}"/>
              </a:ext>
            </a:extLst>
          </p:cNvPr>
          <p:cNvSpPr/>
          <p:nvPr/>
        </p:nvSpPr>
        <p:spPr>
          <a:xfrm>
            <a:off x="236500" y="1312164"/>
            <a:ext cx="4490696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">
            <a:extLst>
              <a:ext uri="{FF2B5EF4-FFF2-40B4-BE49-F238E27FC236}">
                <a16:creationId xmlns:a16="http://schemas.microsoft.com/office/drawing/2014/main" id="{1BE78107-3A08-0C90-8EDC-D5BB3F26F15A}"/>
              </a:ext>
            </a:extLst>
          </p:cNvPr>
          <p:cNvSpPr/>
          <p:nvPr/>
        </p:nvSpPr>
        <p:spPr>
          <a:xfrm>
            <a:off x="236500" y="1312164"/>
            <a:ext cx="502920" cy="16002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0" descr="preencoded.png">
            <a:extLst>
              <a:ext uri="{FF2B5EF4-FFF2-40B4-BE49-F238E27FC236}">
                <a16:creationId xmlns:a16="http://schemas.microsoft.com/office/drawing/2014/main" id="{63E689C4-46C7-E718-56DC-0D988F2B16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228" y="1879092"/>
            <a:ext cx="292608" cy="292608"/>
          </a:xfrm>
          <a:prstGeom prst="rect">
            <a:avLst/>
          </a:prstGeom>
        </p:spPr>
      </p:pic>
      <p:sp>
        <p:nvSpPr>
          <p:cNvPr id="34" name="Text 4">
            <a:extLst>
              <a:ext uri="{FF2B5EF4-FFF2-40B4-BE49-F238E27FC236}">
                <a16:creationId xmlns:a16="http://schemas.microsoft.com/office/drawing/2014/main" id="{4CDB3D52-1A44-FE47-350D-DA04AEAA14E3}"/>
              </a:ext>
            </a:extLst>
          </p:cNvPr>
          <p:cNvSpPr/>
          <p:nvPr/>
        </p:nvSpPr>
        <p:spPr>
          <a:xfrm>
            <a:off x="830859" y="1476756"/>
            <a:ext cx="364466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A2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Accounts</a:t>
            </a:r>
            <a:endParaRPr lang="en-US" sz="2800"/>
          </a:p>
        </p:txBody>
      </p:sp>
      <p:sp>
        <p:nvSpPr>
          <p:cNvPr id="35" name="Text 5">
            <a:extLst>
              <a:ext uri="{FF2B5EF4-FFF2-40B4-BE49-F238E27FC236}">
                <a16:creationId xmlns:a16="http://schemas.microsoft.com/office/drawing/2014/main" id="{B609F75B-552B-95FF-EFF6-20AE33733905}"/>
              </a:ext>
            </a:extLst>
          </p:cNvPr>
          <p:cNvSpPr/>
          <p:nvPr/>
        </p:nvSpPr>
        <p:spPr>
          <a:xfrm>
            <a:off x="830859" y="1860804"/>
            <a:ext cx="33636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546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Registration, login &amp; dietary profile management</a:t>
            </a:r>
            <a:endParaRPr lang="en-US" sz="20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ED20802-635B-C34A-810C-C98A64378B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7081" y="2551697"/>
            <a:ext cx="4641975" cy="36731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9E6FD1-99B4-5F73-2804-4B4110B65A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944" y="3081528"/>
            <a:ext cx="6895750" cy="3143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594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18E66-F453-FA38-536C-241ABF32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2D7C3-1D8E-35FB-5764-1D23DCF5E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18366"/>
            <a:ext cx="6762750" cy="1143000"/>
          </a:xfrm>
        </p:spPr>
        <p:txBody>
          <a:bodyPr>
            <a:normAutofit/>
          </a:bodyPr>
          <a:lstStyle/>
          <a:p>
            <a:r>
              <a:rPr lang="en-US" sz="6000" b="1"/>
              <a:t>Solution overview</a:t>
            </a:r>
          </a:p>
        </p:txBody>
      </p:sp>
      <p:sp>
        <p:nvSpPr>
          <p:cNvPr id="36" name="Shape 6">
            <a:extLst>
              <a:ext uri="{FF2B5EF4-FFF2-40B4-BE49-F238E27FC236}">
                <a16:creationId xmlns:a16="http://schemas.microsoft.com/office/drawing/2014/main" id="{91215669-809B-9861-D794-C83F623E237B}"/>
              </a:ext>
            </a:extLst>
          </p:cNvPr>
          <p:cNvSpPr/>
          <p:nvPr/>
        </p:nvSpPr>
        <p:spPr>
          <a:xfrm>
            <a:off x="109903" y="1006930"/>
            <a:ext cx="4638265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7">
            <a:extLst>
              <a:ext uri="{FF2B5EF4-FFF2-40B4-BE49-F238E27FC236}">
                <a16:creationId xmlns:a16="http://schemas.microsoft.com/office/drawing/2014/main" id="{B05D9746-368E-B4A5-CF64-8CD628175CB3}"/>
              </a:ext>
            </a:extLst>
          </p:cNvPr>
          <p:cNvSpPr/>
          <p:nvPr/>
        </p:nvSpPr>
        <p:spPr>
          <a:xfrm>
            <a:off x="109904" y="1006930"/>
            <a:ext cx="502920" cy="1600200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8" name="Image 1" descr="preencoded.png">
            <a:extLst>
              <a:ext uri="{FF2B5EF4-FFF2-40B4-BE49-F238E27FC236}">
                <a16:creationId xmlns:a16="http://schemas.microsoft.com/office/drawing/2014/main" id="{AF3CC15B-82ED-5054-1F0B-3E52550E5A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632" y="1573858"/>
            <a:ext cx="292608" cy="292608"/>
          </a:xfrm>
          <a:prstGeom prst="rect">
            <a:avLst/>
          </a:prstGeom>
        </p:spPr>
      </p:pic>
      <p:sp>
        <p:nvSpPr>
          <p:cNvPr id="39" name="Text 8">
            <a:extLst>
              <a:ext uri="{FF2B5EF4-FFF2-40B4-BE49-F238E27FC236}">
                <a16:creationId xmlns:a16="http://schemas.microsoft.com/office/drawing/2014/main" id="{867270A3-F84A-77D2-AAF3-6C8407E5964D}"/>
              </a:ext>
            </a:extLst>
          </p:cNvPr>
          <p:cNvSpPr/>
          <p:nvPr/>
        </p:nvSpPr>
        <p:spPr>
          <a:xfrm>
            <a:off x="704264" y="1171522"/>
            <a:ext cx="37670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A2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Recipe Manager</a:t>
            </a:r>
            <a:endParaRPr lang="en-US" sz="2800"/>
          </a:p>
        </p:txBody>
      </p:sp>
      <p:sp>
        <p:nvSpPr>
          <p:cNvPr id="40" name="Text 9">
            <a:extLst>
              <a:ext uri="{FF2B5EF4-FFF2-40B4-BE49-F238E27FC236}">
                <a16:creationId xmlns:a16="http://schemas.microsoft.com/office/drawing/2014/main" id="{1D48D193-AF49-752D-E948-102DAD97D0A8}"/>
              </a:ext>
            </a:extLst>
          </p:cNvPr>
          <p:cNvSpPr/>
          <p:nvPr/>
        </p:nvSpPr>
        <p:spPr>
          <a:xfrm>
            <a:off x="704264" y="1555570"/>
            <a:ext cx="352798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546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edit, search &amp; filter recipes by time, cost, diet</a:t>
            </a:r>
            <a:endParaRPr lang="en-US" sz="2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84AA42-3558-99C8-612C-2D94126C30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90" y="2845202"/>
            <a:ext cx="4790692" cy="324393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B37A228-58A4-3C5F-DF7B-DEA5B023CD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8228" y="2432298"/>
            <a:ext cx="7004807" cy="3656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327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1066E-BC57-4004-1982-94C74177F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6D912-DF29-D718-2A28-8E770FE80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79923"/>
            <a:ext cx="6762750" cy="1143000"/>
          </a:xfrm>
        </p:spPr>
        <p:txBody>
          <a:bodyPr>
            <a:normAutofit/>
          </a:bodyPr>
          <a:lstStyle/>
          <a:p>
            <a:r>
              <a:rPr lang="en-US" sz="6000" b="1"/>
              <a:t>Solution overview</a:t>
            </a:r>
          </a:p>
        </p:txBody>
      </p:sp>
      <p:sp>
        <p:nvSpPr>
          <p:cNvPr id="41" name="Shape 10">
            <a:extLst>
              <a:ext uri="{FF2B5EF4-FFF2-40B4-BE49-F238E27FC236}">
                <a16:creationId xmlns:a16="http://schemas.microsoft.com/office/drawing/2014/main" id="{F32B8199-13F7-43A7-CF7C-5B017003AD37}"/>
              </a:ext>
            </a:extLst>
          </p:cNvPr>
          <p:cNvSpPr/>
          <p:nvPr/>
        </p:nvSpPr>
        <p:spPr>
          <a:xfrm>
            <a:off x="232095" y="1081949"/>
            <a:ext cx="4292485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11">
            <a:extLst>
              <a:ext uri="{FF2B5EF4-FFF2-40B4-BE49-F238E27FC236}">
                <a16:creationId xmlns:a16="http://schemas.microsoft.com/office/drawing/2014/main" id="{28374055-421F-CC77-EA87-B84192C8D516}"/>
              </a:ext>
            </a:extLst>
          </p:cNvPr>
          <p:cNvSpPr/>
          <p:nvPr/>
        </p:nvSpPr>
        <p:spPr>
          <a:xfrm>
            <a:off x="232096" y="1081949"/>
            <a:ext cx="502920" cy="1600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3" name="Image 2" descr="preencoded.png">
            <a:extLst>
              <a:ext uri="{FF2B5EF4-FFF2-40B4-BE49-F238E27FC236}">
                <a16:creationId xmlns:a16="http://schemas.microsoft.com/office/drawing/2014/main" id="{CC893AF9-0283-96D7-2054-03C8054397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824" y="1648877"/>
            <a:ext cx="292608" cy="292608"/>
          </a:xfrm>
          <a:prstGeom prst="rect">
            <a:avLst/>
          </a:prstGeom>
        </p:spPr>
      </p:pic>
      <p:sp>
        <p:nvSpPr>
          <p:cNvPr id="44" name="Text 12">
            <a:extLst>
              <a:ext uri="{FF2B5EF4-FFF2-40B4-BE49-F238E27FC236}">
                <a16:creationId xmlns:a16="http://schemas.microsoft.com/office/drawing/2014/main" id="{1B5FDD9B-4631-F6DA-D9C4-A04D2F7301B2}"/>
              </a:ext>
            </a:extLst>
          </p:cNvPr>
          <p:cNvSpPr/>
          <p:nvPr/>
        </p:nvSpPr>
        <p:spPr>
          <a:xfrm>
            <a:off x="826456" y="1246541"/>
            <a:ext cx="3099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A2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Weekly Planner</a:t>
            </a:r>
            <a:endParaRPr lang="en-US" sz="2800"/>
          </a:p>
        </p:txBody>
      </p:sp>
      <p:sp>
        <p:nvSpPr>
          <p:cNvPr id="45" name="Text 13">
            <a:extLst>
              <a:ext uri="{FF2B5EF4-FFF2-40B4-BE49-F238E27FC236}">
                <a16:creationId xmlns:a16="http://schemas.microsoft.com/office/drawing/2014/main" id="{7D83A898-86C2-2768-842F-146588EA812B}"/>
              </a:ext>
            </a:extLst>
          </p:cNvPr>
          <p:cNvSpPr/>
          <p:nvPr/>
        </p:nvSpPr>
        <p:spPr>
          <a:xfrm>
            <a:off x="826456" y="1630589"/>
            <a:ext cx="298214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546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your weekly meal schedule</a:t>
            </a:r>
            <a:endParaRPr lang="en-US" sz="2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2DE335-C7A8-46BD-7250-91342C8B80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095" y="2833138"/>
            <a:ext cx="11727809" cy="3528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455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31952" y="-55408"/>
            <a:ext cx="6197600" cy="1143000"/>
          </a:xfrm>
        </p:spPr>
        <p:txBody>
          <a:bodyPr>
            <a:normAutofit/>
          </a:bodyPr>
          <a:lstStyle/>
          <a:p>
            <a:r>
              <a:rPr lang="en-US" sz="6000" b="1"/>
              <a:t>Competitive edge</a:t>
            </a:r>
          </a:p>
        </p:txBody>
      </p:sp>
      <p:pic>
        <p:nvPicPr>
          <p:cNvPr id="14" name="Image 1" descr="preencoded.png">
            <a:extLst>
              <a:ext uri="{FF2B5EF4-FFF2-40B4-BE49-F238E27FC236}">
                <a16:creationId xmlns:a16="http://schemas.microsoft.com/office/drawing/2014/main" id="{614253A8-BFF4-B013-2889-5C24CC3E41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4941" y="2055641"/>
            <a:ext cx="347472" cy="3474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A42436B-61DC-B842-2E1C-22339301FA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4350" y="2852384"/>
            <a:ext cx="7580118" cy="3426825"/>
          </a:xfrm>
          <a:prstGeom prst="rect">
            <a:avLst/>
          </a:prstGeom>
        </p:spPr>
      </p:pic>
      <p:sp>
        <p:nvSpPr>
          <p:cNvPr id="6" name="Shape 10">
            <a:extLst>
              <a:ext uri="{FF2B5EF4-FFF2-40B4-BE49-F238E27FC236}">
                <a16:creationId xmlns:a16="http://schemas.microsoft.com/office/drawing/2014/main" id="{CEE31033-68C2-5975-D6D0-31CC3CA54D2A}"/>
              </a:ext>
            </a:extLst>
          </p:cNvPr>
          <p:cNvSpPr/>
          <p:nvPr/>
        </p:nvSpPr>
        <p:spPr>
          <a:xfrm>
            <a:off x="3582045" y="1087592"/>
            <a:ext cx="5027912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11">
            <a:extLst>
              <a:ext uri="{FF2B5EF4-FFF2-40B4-BE49-F238E27FC236}">
                <a16:creationId xmlns:a16="http://schemas.microsoft.com/office/drawing/2014/main" id="{F36671A2-C0D7-8692-FD15-8D790734F128}"/>
              </a:ext>
            </a:extLst>
          </p:cNvPr>
          <p:cNvSpPr/>
          <p:nvPr/>
        </p:nvSpPr>
        <p:spPr>
          <a:xfrm>
            <a:off x="3582045" y="1087592"/>
            <a:ext cx="502920" cy="1600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12">
            <a:extLst>
              <a:ext uri="{FF2B5EF4-FFF2-40B4-BE49-F238E27FC236}">
                <a16:creationId xmlns:a16="http://schemas.microsoft.com/office/drawing/2014/main" id="{0C8C1A3B-80F9-5547-6A15-8CA719679BB4}"/>
              </a:ext>
            </a:extLst>
          </p:cNvPr>
          <p:cNvSpPr/>
          <p:nvPr/>
        </p:nvSpPr>
        <p:spPr>
          <a:xfrm>
            <a:off x="4176404" y="1252184"/>
            <a:ext cx="390416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A2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Built-in Calorie Tracker</a:t>
            </a:r>
            <a:endParaRPr lang="en-US" sz="2800"/>
          </a:p>
        </p:txBody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15A49A1A-1FDA-D80B-7EDD-3C5AFD9F1989}"/>
              </a:ext>
            </a:extLst>
          </p:cNvPr>
          <p:cNvSpPr/>
          <p:nvPr/>
        </p:nvSpPr>
        <p:spPr>
          <a:xfrm>
            <a:off x="4176405" y="1636232"/>
            <a:ext cx="3656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>
                <a:solidFill>
                  <a:schemeClr val="tx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calorie monitoring tied directly to the meal planner.</a:t>
            </a:r>
            <a:endParaRPr lang="en-US" sz="2000">
              <a:solidFill>
                <a:schemeClr val="tx1">
                  <a:lumMod val="50000"/>
                </a:schemeClr>
              </a:solidFill>
            </a:endParaRPr>
          </a:p>
        </p:txBody>
      </p:sp>
      <p:pic>
        <p:nvPicPr>
          <p:cNvPr id="12" name="Graphic 11" descr="Donut outline">
            <a:extLst>
              <a:ext uri="{FF2B5EF4-FFF2-40B4-BE49-F238E27FC236}">
                <a16:creationId xmlns:a16="http://schemas.microsoft.com/office/drawing/2014/main" id="{41FD8726-5641-F4B4-27F0-079750F453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69801" y="1587500"/>
            <a:ext cx="527407" cy="527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464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E487E-2D76-5545-354D-AEB127BE9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EBC1A-2DAE-057F-91C5-E93E8DD5C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" y="-167217"/>
            <a:ext cx="6197600" cy="1143000"/>
          </a:xfrm>
        </p:spPr>
        <p:txBody>
          <a:bodyPr>
            <a:normAutofit/>
          </a:bodyPr>
          <a:lstStyle/>
          <a:p>
            <a:r>
              <a:rPr lang="en-US" sz="6000" b="1"/>
              <a:t>Competitive edge</a:t>
            </a:r>
          </a:p>
        </p:txBody>
      </p:sp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F557D5D2-5126-BE72-B0D7-4D4BAE81AA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8472" y="3806935"/>
            <a:ext cx="347472" cy="347472"/>
          </a:xfrm>
          <a:prstGeom prst="rect">
            <a:avLst/>
          </a:prstGeom>
        </p:spPr>
      </p:pic>
      <p:sp>
        <p:nvSpPr>
          <p:cNvPr id="5" name="Shape 10">
            <a:extLst>
              <a:ext uri="{FF2B5EF4-FFF2-40B4-BE49-F238E27FC236}">
                <a16:creationId xmlns:a16="http://schemas.microsoft.com/office/drawing/2014/main" id="{96C483F9-B7DD-F5F5-BA7E-D319C938BE07}"/>
              </a:ext>
            </a:extLst>
          </p:cNvPr>
          <p:cNvSpPr/>
          <p:nvPr/>
        </p:nvSpPr>
        <p:spPr>
          <a:xfrm>
            <a:off x="435576" y="2838886"/>
            <a:ext cx="4334309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11">
            <a:extLst>
              <a:ext uri="{FF2B5EF4-FFF2-40B4-BE49-F238E27FC236}">
                <a16:creationId xmlns:a16="http://schemas.microsoft.com/office/drawing/2014/main" id="{EF443C2B-819C-3ABC-01DD-E9EA0A8FECF3}"/>
              </a:ext>
            </a:extLst>
          </p:cNvPr>
          <p:cNvSpPr/>
          <p:nvPr/>
        </p:nvSpPr>
        <p:spPr>
          <a:xfrm>
            <a:off x="435576" y="2838886"/>
            <a:ext cx="502920" cy="1600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12">
            <a:extLst>
              <a:ext uri="{FF2B5EF4-FFF2-40B4-BE49-F238E27FC236}">
                <a16:creationId xmlns:a16="http://schemas.microsoft.com/office/drawing/2014/main" id="{C0666A3F-EA1E-6555-973B-464F15B45480}"/>
              </a:ext>
            </a:extLst>
          </p:cNvPr>
          <p:cNvSpPr/>
          <p:nvPr/>
        </p:nvSpPr>
        <p:spPr>
          <a:xfrm>
            <a:off x="1029935" y="3003478"/>
            <a:ext cx="390416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A2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Recipe Generator</a:t>
            </a:r>
            <a:endParaRPr lang="en-US" sz="2800"/>
          </a:p>
        </p:txBody>
      </p:sp>
      <p:sp>
        <p:nvSpPr>
          <p:cNvPr id="8" name="Text 13">
            <a:extLst>
              <a:ext uri="{FF2B5EF4-FFF2-40B4-BE49-F238E27FC236}">
                <a16:creationId xmlns:a16="http://schemas.microsoft.com/office/drawing/2014/main" id="{52E7092B-C530-29E2-DF14-26900CB33B11}"/>
              </a:ext>
            </a:extLst>
          </p:cNvPr>
          <p:cNvSpPr/>
          <p:nvPr/>
        </p:nvSpPr>
        <p:spPr>
          <a:xfrm>
            <a:off x="1029936" y="3387526"/>
            <a:ext cx="3656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>
                <a:solidFill>
                  <a:schemeClr val="tx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ingredients you have, get a complete recipe</a:t>
            </a:r>
            <a:endParaRPr lang="en-US" sz="2000">
              <a:solidFill>
                <a:schemeClr val="tx1">
                  <a:lumMod val="50000"/>
                </a:schemeClr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6E429E8-9ED2-9B4F-AF52-67B39BFFE1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7390" y="1236133"/>
            <a:ext cx="6681278" cy="4822289"/>
          </a:xfrm>
          <a:prstGeom prst="rect">
            <a:avLst/>
          </a:prstGeom>
        </p:spPr>
      </p:pic>
      <p:pic>
        <p:nvPicPr>
          <p:cNvPr id="17" name="Graphic 16" descr="Grocery bag with solid fill">
            <a:extLst>
              <a:ext uri="{FF2B5EF4-FFF2-40B4-BE49-F238E27FC236}">
                <a16:creationId xmlns:a16="http://schemas.microsoft.com/office/drawing/2014/main" id="{FC18C5A6-8C5F-D248-4863-8080ECF4B5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7636" y="3359586"/>
            <a:ext cx="558800" cy="5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44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41502" y="74653"/>
            <a:ext cx="5308600" cy="1143000"/>
          </a:xfrm>
        </p:spPr>
        <p:txBody>
          <a:bodyPr>
            <a:normAutofit/>
          </a:bodyPr>
          <a:lstStyle/>
          <a:p>
            <a:r>
              <a:rPr lang="en-US" sz="4800" b="1"/>
              <a:t>Product overview</a:t>
            </a:r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EB615F2B-806D-756B-A022-64EF0014044C}"/>
              </a:ext>
            </a:extLst>
          </p:cNvPr>
          <p:cNvSpPr/>
          <p:nvPr/>
        </p:nvSpPr>
        <p:spPr>
          <a:xfrm>
            <a:off x="2118162" y="1217653"/>
            <a:ext cx="2468880" cy="18288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8172674D-B4A1-1F81-3806-A1E43787E0AF}"/>
              </a:ext>
            </a:extLst>
          </p:cNvPr>
          <p:cNvSpPr/>
          <p:nvPr/>
        </p:nvSpPr>
        <p:spPr>
          <a:xfrm>
            <a:off x="2118162" y="1400533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PHP</a:t>
            </a:r>
            <a:endParaRPr lang="en-US" sz="3000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B4BF1141-917B-0447-0B68-C9A62C750A0C}"/>
              </a:ext>
            </a:extLst>
          </p:cNvPr>
          <p:cNvSpPr/>
          <p:nvPr/>
        </p:nvSpPr>
        <p:spPr>
          <a:xfrm>
            <a:off x="2118162" y="2223493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Language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BAEFBBDC-9295-C077-3B09-F865FF0D7CF3}"/>
              </a:ext>
            </a:extLst>
          </p:cNvPr>
          <p:cNvSpPr/>
          <p:nvPr/>
        </p:nvSpPr>
        <p:spPr>
          <a:xfrm>
            <a:off x="4861362" y="1217653"/>
            <a:ext cx="2468880" cy="1828800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628C4061-5AA9-C8D7-371C-AE0A9737D1FD}"/>
              </a:ext>
            </a:extLst>
          </p:cNvPr>
          <p:cNvSpPr/>
          <p:nvPr/>
        </p:nvSpPr>
        <p:spPr>
          <a:xfrm>
            <a:off x="4861362" y="1400533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300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652DD426-A658-1AF3-D2E8-BF5C39668544}"/>
              </a:ext>
            </a:extLst>
          </p:cNvPr>
          <p:cNvSpPr/>
          <p:nvPr/>
        </p:nvSpPr>
        <p:spPr>
          <a:xfrm>
            <a:off x="4861362" y="2223493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Pages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5" name="Shape 8">
            <a:extLst>
              <a:ext uri="{FF2B5EF4-FFF2-40B4-BE49-F238E27FC236}">
                <a16:creationId xmlns:a16="http://schemas.microsoft.com/office/drawing/2014/main" id="{39645A31-BE88-2DC6-2AB3-EAA31500DC50}"/>
              </a:ext>
            </a:extLst>
          </p:cNvPr>
          <p:cNvSpPr/>
          <p:nvPr/>
        </p:nvSpPr>
        <p:spPr>
          <a:xfrm>
            <a:off x="7604562" y="1217653"/>
            <a:ext cx="2468880" cy="1828800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5CD1E178-7860-CD43-27CA-2ACAE1AD07AE}"/>
              </a:ext>
            </a:extLst>
          </p:cNvPr>
          <p:cNvSpPr/>
          <p:nvPr/>
        </p:nvSpPr>
        <p:spPr>
          <a:xfrm>
            <a:off x="7604562" y="1400533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HTML</a:t>
            </a:r>
            <a:endParaRPr lang="en-US" sz="3000"/>
          </a:p>
          <a:p>
            <a:pPr marL="0" indent="0" algn="ctr">
              <a:buNone/>
            </a:pPr>
            <a:r>
              <a:rPr lang="en-US" sz="30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CSS JS</a:t>
            </a:r>
            <a:endParaRPr lang="en-US" sz="3000"/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1B5C2DEE-47E4-CACE-5E2B-838F6801FA4E}"/>
              </a:ext>
            </a:extLst>
          </p:cNvPr>
          <p:cNvSpPr/>
          <p:nvPr/>
        </p:nvSpPr>
        <p:spPr>
          <a:xfrm>
            <a:off x="7604562" y="2223493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Languages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7CA863B0-549C-5BA8-B7B5-BA2393FB03BD}"/>
              </a:ext>
            </a:extLst>
          </p:cNvPr>
          <p:cNvSpPr/>
          <p:nvPr/>
        </p:nvSpPr>
        <p:spPr>
          <a:xfrm>
            <a:off x="2118162" y="3275053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Frameworks &amp; Tools</a:t>
            </a:r>
            <a:endParaRPr lang="en-US"/>
          </a:p>
        </p:txBody>
      </p:sp>
      <p:sp>
        <p:nvSpPr>
          <p:cNvPr id="19" name="Shape 12">
            <a:extLst>
              <a:ext uri="{FF2B5EF4-FFF2-40B4-BE49-F238E27FC236}">
                <a16:creationId xmlns:a16="http://schemas.microsoft.com/office/drawing/2014/main" id="{3B0773A0-DE3A-2C63-AE8C-DDA4D37832A8}"/>
              </a:ext>
            </a:extLst>
          </p:cNvPr>
          <p:cNvSpPr/>
          <p:nvPr/>
        </p:nvSpPr>
        <p:spPr>
          <a:xfrm>
            <a:off x="1330494" y="3668653"/>
            <a:ext cx="2560320" cy="457200"/>
          </a:xfrm>
          <a:prstGeom prst="rect">
            <a:avLst/>
          </a:prstGeom>
          <a:solidFill>
            <a:srgbClr val="E8F5E9"/>
          </a:solidFill>
          <a:ln w="10160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0" descr="preencoded.png">
            <a:extLst>
              <a:ext uri="{FF2B5EF4-FFF2-40B4-BE49-F238E27FC236}">
                <a16:creationId xmlns:a16="http://schemas.microsoft.com/office/drawing/2014/main" id="{B946CDED-CAF8-AABE-599A-FE1BD4A955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7654" y="3760093"/>
            <a:ext cx="201168" cy="201168"/>
          </a:xfrm>
          <a:prstGeom prst="rect">
            <a:avLst/>
          </a:prstGeom>
        </p:spPr>
      </p:pic>
      <p:sp>
        <p:nvSpPr>
          <p:cNvPr id="21" name="Text 13">
            <a:extLst>
              <a:ext uri="{FF2B5EF4-FFF2-40B4-BE49-F238E27FC236}">
                <a16:creationId xmlns:a16="http://schemas.microsoft.com/office/drawing/2014/main" id="{04AAE6D3-56FD-057B-F467-6C1CDF96F70D}"/>
              </a:ext>
            </a:extLst>
          </p:cNvPr>
          <p:cNvSpPr/>
          <p:nvPr/>
        </p:nvSpPr>
        <p:spPr>
          <a:xfrm>
            <a:off x="1741974" y="3686941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err="1">
                <a:solidFill>
                  <a:srgbClr val="1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Paragonie</a:t>
            </a:r>
            <a:r>
              <a:rPr lang="en-US" sz="1600">
                <a:solidFill>
                  <a:srgbClr val="1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Anti-CSRF</a:t>
            </a:r>
            <a:endParaRPr lang="en-US" sz="1600"/>
          </a:p>
        </p:txBody>
      </p:sp>
      <p:sp>
        <p:nvSpPr>
          <p:cNvPr id="22" name="Shape 14">
            <a:extLst>
              <a:ext uri="{FF2B5EF4-FFF2-40B4-BE49-F238E27FC236}">
                <a16:creationId xmlns:a16="http://schemas.microsoft.com/office/drawing/2014/main" id="{343E9942-69B7-B2DA-A4FA-5323AE5CEFDB}"/>
              </a:ext>
            </a:extLst>
          </p:cNvPr>
          <p:cNvSpPr/>
          <p:nvPr/>
        </p:nvSpPr>
        <p:spPr>
          <a:xfrm>
            <a:off x="4165134" y="3668653"/>
            <a:ext cx="2103120" cy="457200"/>
          </a:xfrm>
          <a:prstGeom prst="rect">
            <a:avLst/>
          </a:prstGeom>
          <a:solidFill>
            <a:srgbClr val="E8F5E9"/>
          </a:solidFill>
          <a:ln w="10160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1" descr="preencoded.png">
            <a:extLst>
              <a:ext uri="{FF2B5EF4-FFF2-40B4-BE49-F238E27FC236}">
                <a16:creationId xmlns:a16="http://schemas.microsoft.com/office/drawing/2014/main" id="{7B641A7F-090D-19C4-A7BA-4241D1A2BC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2294" y="3760093"/>
            <a:ext cx="201168" cy="201168"/>
          </a:xfrm>
          <a:prstGeom prst="rect">
            <a:avLst/>
          </a:prstGeom>
        </p:spPr>
      </p:pic>
      <p:sp>
        <p:nvSpPr>
          <p:cNvPr id="24" name="Text 15">
            <a:extLst>
              <a:ext uri="{FF2B5EF4-FFF2-40B4-BE49-F238E27FC236}">
                <a16:creationId xmlns:a16="http://schemas.microsoft.com/office/drawing/2014/main" id="{42DA05E7-80B7-CBFB-D120-97E6B2A6FB26}"/>
              </a:ext>
            </a:extLst>
          </p:cNvPr>
          <p:cNvSpPr/>
          <p:nvPr/>
        </p:nvSpPr>
        <p:spPr>
          <a:xfrm>
            <a:off x="4576614" y="3686941"/>
            <a:ext cx="16228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AI | SDK</a:t>
            </a:r>
            <a:endParaRPr lang="en-US" sz="1600" dirty="0"/>
          </a:p>
        </p:txBody>
      </p:sp>
      <p:sp>
        <p:nvSpPr>
          <p:cNvPr id="25" name="Shape 16">
            <a:extLst>
              <a:ext uri="{FF2B5EF4-FFF2-40B4-BE49-F238E27FC236}">
                <a16:creationId xmlns:a16="http://schemas.microsoft.com/office/drawing/2014/main" id="{A53905AF-BD58-F4A8-58B4-844CAE9DDDE1}"/>
              </a:ext>
            </a:extLst>
          </p:cNvPr>
          <p:cNvSpPr/>
          <p:nvPr/>
        </p:nvSpPr>
        <p:spPr>
          <a:xfrm>
            <a:off x="6542574" y="3686533"/>
            <a:ext cx="1280160" cy="457200"/>
          </a:xfrm>
          <a:prstGeom prst="rect">
            <a:avLst/>
          </a:prstGeom>
          <a:solidFill>
            <a:srgbClr val="E8F5E9"/>
          </a:solidFill>
          <a:ln w="10160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2" descr="preencoded.png">
            <a:extLst>
              <a:ext uri="{FF2B5EF4-FFF2-40B4-BE49-F238E27FC236}">
                <a16:creationId xmlns:a16="http://schemas.microsoft.com/office/drawing/2014/main" id="{1909D9BE-28E0-E279-A4DA-57C424324E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9734" y="3777973"/>
            <a:ext cx="201168" cy="201168"/>
          </a:xfrm>
          <a:prstGeom prst="rect">
            <a:avLst/>
          </a:prstGeom>
        </p:spPr>
      </p:pic>
      <p:sp>
        <p:nvSpPr>
          <p:cNvPr id="27" name="Text 17">
            <a:extLst>
              <a:ext uri="{FF2B5EF4-FFF2-40B4-BE49-F238E27FC236}">
                <a16:creationId xmlns:a16="http://schemas.microsoft.com/office/drawing/2014/main" id="{D7D0A19D-4562-8C5D-3DE5-513CBF32EB59}"/>
              </a:ext>
            </a:extLst>
          </p:cNvPr>
          <p:cNvSpPr/>
          <p:nvPr/>
        </p:nvSpPr>
        <p:spPr>
          <a:xfrm>
            <a:off x="6954054" y="3704821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err="1">
                <a:solidFill>
                  <a:srgbClr val="1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PHPUnit</a:t>
            </a:r>
            <a:endParaRPr lang="en-US" sz="1400"/>
          </a:p>
        </p:txBody>
      </p:sp>
      <p:sp>
        <p:nvSpPr>
          <p:cNvPr id="5" name="Text 11">
            <a:extLst>
              <a:ext uri="{FF2B5EF4-FFF2-40B4-BE49-F238E27FC236}">
                <a16:creationId xmlns:a16="http://schemas.microsoft.com/office/drawing/2014/main" id="{838E2DEC-FCE9-69D7-CE7F-425B49CFA6A4}"/>
              </a:ext>
            </a:extLst>
          </p:cNvPr>
          <p:cNvSpPr/>
          <p:nvPr/>
        </p:nvSpPr>
        <p:spPr>
          <a:xfrm>
            <a:off x="2118162" y="42230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rgbClr val="1B5E20"/>
                </a:solidFill>
                <a:latin typeface="Trebuchet MS" pitchFamily="34" charset="0"/>
              </a:rPr>
              <a:t>Lines of code</a:t>
            </a:r>
            <a:endParaRPr lang="en-US"/>
          </a:p>
        </p:txBody>
      </p:sp>
      <p:sp>
        <p:nvSpPr>
          <p:cNvPr id="6" name="Text 11">
            <a:extLst>
              <a:ext uri="{FF2B5EF4-FFF2-40B4-BE49-F238E27FC236}">
                <a16:creationId xmlns:a16="http://schemas.microsoft.com/office/drawing/2014/main" id="{7D55A5D9-5B84-ECD8-91CD-4A04B873A5F7}"/>
              </a:ext>
            </a:extLst>
          </p:cNvPr>
          <p:cNvSpPr/>
          <p:nvPr/>
        </p:nvSpPr>
        <p:spPr>
          <a:xfrm>
            <a:off x="6095802" y="4280893"/>
            <a:ext cx="116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rgbClr val="1B5E20"/>
                </a:solidFill>
                <a:latin typeface="Trebuchet MS" pitchFamily="34" charset="0"/>
              </a:rPr>
              <a:t>Frontend</a:t>
            </a:r>
          </a:p>
        </p:txBody>
      </p:sp>
      <p:sp>
        <p:nvSpPr>
          <p:cNvPr id="7" name="Text 11">
            <a:extLst>
              <a:ext uri="{FF2B5EF4-FFF2-40B4-BE49-F238E27FC236}">
                <a16:creationId xmlns:a16="http://schemas.microsoft.com/office/drawing/2014/main" id="{4B2B6E28-F3E4-0771-97AB-579E692084F4}"/>
              </a:ext>
            </a:extLst>
          </p:cNvPr>
          <p:cNvSpPr/>
          <p:nvPr/>
        </p:nvSpPr>
        <p:spPr>
          <a:xfrm>
            <a:off x="7739275" y="4258032"/>
            <a:ext cx="1169064" cy="502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rgbClr val="1B5E20"/>
                </a:solidFill>
                <a:latin typeface="Trebuchet MS" pitchFamily="34" charset="0"/>
              </a:rPr>
              <a:t>Backend</a:t>
            </a:r>
          </a:p>
        </p:txBody>
      </p:sp>
      <p:sp>
        <p:nvSpPr>
          <p:cNvPr id="8" name="Text 11">
            <a:extLst>
              <a:ext uri="{FF2B5EF4-FFF2-40B4-BE49-F238E27FC236}">
                <a16:creationId xmlns:a16="http://schemas.microsoft.com/office/drawing/2014/main" id="{15751ED6-24A4-6E3D-9C12-49A02B5BE9D4}"/>
              </a:ext>
            </a:extLst>
          </p:cNvPr>
          <p:cNvSpPr/>
          <p:nvPr/>
        </p:nvSpPr>
        <p:spPr>
          <a:xfrm>
            <a:off x="9382748" y="4268509"/>
            <a:ext cx="1169064" cy="480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rgbClr val="1B5E20"/>
                </a:solidFill>
                <a:latin typeface="Trebuchet MS" pitchFamily="34" charset="0"/>
              </a:rPr>
              <a:t>Tests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9360FE8-940A-115E-6CEB-BEB3E0A3F8D5}"/>
              </a:ext>
            </a:extLst>
          </p:cNvPr>
          <p:cNvSpPr txBox="1"/>
          <p:nvPr/>
        </p:nvSpPr>
        <p:spPr>
          <a:xfrm>
            <a:off x="6000728" y="4922115"/>
            <a:ext cx="13604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chemeClr val="tx2"/>
                </a:solidFill>
              </a:rPr>
              <a:t>3039 Lines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918AC2B-91DF-6DF3-A16B-076A6729BA3C}"/>
              </a:ext>
            </a:extLst>
          </p:cNvPr>
          <p:cNvSpPr txBox="1"/>
          <p:nvPr/>
        </p:nvSpPr>
        <p:spPr>
          <a:xfrm>
            <a:off x="7643571" y="4921729"/>
            <a:ext cx="13604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/>
                </a:solidFill>
              </a:rPr>
              <a:t>1127 Lines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0076A8F-D320-9157-206D-2104B41A122A}"/>
              </a:ext>
            </a:extLst>
          </p:cNvPr>
          <p:cNvSpPr txBox="1"/>
          <p:nvPr/>
        </p:nvSpPr>
        <p:spPr>
          <a:xfrm>
            <a:off x="9287044" y="4921729"/>
            <a:ext cx="13604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/>
                </a:solidFill>
              </a:rPr>
              <a:t>2006 Lines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6E77C3C-647F-CCE4-DAC6-CD2F6ABA65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8162" y="4608766"/>
            <a:ext cx="3787984" cy="1405087"/>
          </a:xfrm>
          <a:prstGeom prst="rect">
            <a:avLst/>
          </a:prstGeom>
        </p:spPr>
      </p:pic>
      <p:sp>
        <p:nvSpPr>
          <p:cNvPr id="32" name="Shape 16">
            <a:extLst>
              <a:ext uri="{FF2B5EF4-FFF2-40B4-BE49-F238E27FC236}">
                <a16:creationId xmlns:a16="http://schemas.microsoft.com/office/drawing/2014/main" id="{8F2E950D-D1FD-C125-8004-8ECF04798A45}"/>
              </a:ext>
            </a:extLst>
          </p:cNvPr>
          <p:cNvSpPr/>
          <p:nvPr/>
        </p:nvSpPr>
        <p:spPr>
          <a:xfrm>
            <a:off x="8097054" y="3686533"/>
            <a:ext cx="1080502" cy="457200"/>
          </a:xfrm>
          <a:prstGeom prst="rect">
            <a:avLst/>
          </a:prstGeom>
          <a:solidFill>
            <a:srgbClr val="E8F5E9"/>
          </a:solidFill>
          <a:ln w="10160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2" descr="preencoded.png">
            <a:extLst>
              <a:ext uri="{FF2B5EF4-FFF2-40B4-BE49-F238E27FC236}">
                <a16:creationId xmlns:a16="http://schemas.microsoft.com/office/drawing/2014/main" id="{D44B4726-92E2-9712-9DD0-121612E020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4214" y="3777973"/>
            <a:ext cx="201168" cy="201168"/>
          </a:xfrm>
          <a:prstGeom prst="rect">
            <a:avLst/>
          </a:prstGeom>
        </p:spPr>
      </p:pic>
      <p:sp>
        <p:nvSpPr>
          <p:cNvPr id="34" name="Text 17">
            <a:extLst>
              <a:ext uri="{FF2B5EF4-FFF2-40B4-BE49-F238E27FC236}">
                <a16:creationId xmlns:a16="http://schemas.microsoft.com/office/drawing/2014/main" id="{A00F68A4-851C-5A7D-00C5-9F89B568583B}"/>
              </a:ext>
            </a:extLst>
          </p:cNvPr>
          <p:cNvSpPr/>
          <p:nvPr/>
        </p:nvSpPr>
        <p:spPr>
          <a:xfrm>
            <a:off x="8508534" y="3704821"/>
            <a:ext cx="66902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400" dirty="0"/>
          </a:p>
        </p:txBody>
      </p:sp>
      <p:sp>
        <p:nvSpPr>
          <p:cNvPr id="35" name="Shape 16">
            <a:extLst>
              <a:ext uri="{FF2B5EF4-FFF2-40B4-BE49-F238E27FC236}">
                <a16:creationId xmlns:a16="http://schemas.microsoft.com/office/drawing/2014/main" id="{3B1F7541-135A-225E-7359-3F9C1D102DE2}"/>
              </a:ext>
            </a:extLst>
          </p:cNvPr>
          <p:cNvSpPr/>
          <p:nvPr/>
        </p:nvSpPr>
        <p:spPr>
          <a:xfrm>
            <a:off x="9451876" y="3668653"/>
            <a:ext cx="1280160" cy="457200"/>
          </a:xfrm>
          <a:prstGeom prst="rect">
            <a:avLst/>
          </a:prstGeom>
          <a:solidFill>
            <a:srgbClr val="E8F5E9"/>
          </a:solidFill>
          <a:ln w="10160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2" descr="preencoded.png">
            <a:extLst>
              <a:ext uri="{FF2B5EF4-FFF2-40B4-BE49-F238E27FC236}">
                <a16:creationId xmlns:a16="http://schemas.microsoft.com/office/drawing/2014/main" id="{55149253-1F16-CB58-D3F6-44844FAA17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9036" y="3760093"/>
            <a:ext cx="201168" cy="201168"/>
          </a:xfrm>
          <a:prstGeom prst="rect">
            <a:avLst/>
          </a:prstGeom>
        </p:spPr>
      </p:pic>
      <p:sp>
        <p:nvSpPr>
          <p:cNvPr id="37" name="Text 17">
            <a:extLst>
              <a:ext uri="{FF2B5EF4-FFF2-40B4-BE49-F238E27FC236}">
                <a16:creationId xmlns:a16="http://schemas.microsoft.com/office/drawing/2014/main" id="{7B09E8F3-E1AC-B837-8E26-2E8B65AD7C99}"/>
              </a:ext>
            </a:extLst>
          </p:cNvPr>
          <p:cNvSpPr/>
          <p:nvPr/>
        </p:nvSpPr>
        <p:spPr>
          <a:xfrm>
            <a:off x="9863356" y="3686941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382416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600450" y="349250"/>
            <a:ext cx="5143500" cy="1143000"/>
          </a:xfrm>
        </p:spPr>
        <p:txBody>
          <a:bodyPr>
            <a:normAutofit/>
          </a:bodyPr>
          <a:lstStyle/>
          <a:p>
            <a:r>
              <a:rPr lang="en-US" sz="4800" b="1"/>
              <a:t>Process overview</a:t>
            </a:r>
          </a:p>
        </p:txBody>
      </p:sp>
      <p:graphicFrame>
        <p:nvGraphicFramePr>
          <p:cNvPr id="6" name="Chart 0">
            <a:extLst>
              <a:ext uri="{FF2B5EF4-FFF2-40B4-BE49-F238E27FC236}">
                <a16:creationId xmlns:a16="http://schemas.microsoft.com/office/drawing/2014/main" id="{7A3F6619-F6AF-5B6E-4EF6-7130BD1CA3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48620532"/>
              </p:ext>
            </p:extLst>
          </p:nvPr>
        </p:nvGraphicFramePr>
        <p:xfrm>
          <a:off x="1492250" y="1819910"/>
          <a:ext cx="6196330" cy="33553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Shape 2">
            <a:extLst>
              <a:ext uri="{FF2B5EF4-FFF2-40B4-BE49-F238E27FC236}">
                <a16:creationId xmlns:a16="http://schemas.microsoft.com/office/drawing/2014/main" id="{BE55E7D0-BEB5-F6AC-67EF-A67C7EBBEDF2}"/>
              </a:ext>
            </a:extLst>
          </p:cNvPr>
          <p:cNvSpPr/>
          <p:nvPr/>
        </p:nvSpPr>
        <p:spPr>
          <a:xfrm>
            <a:off x="7531428" y="1911349"/>
            <a:ext cx="3311832" cy="1205825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46BB6AA0-F84E-E04F-CADB-E90FFCD9C3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1799" y="2309696"/>
            <a:ext cx="373916" cy="373916"/>
          </a:xfrm>
          <a:prstGeom prst="rect">
            <a:avLst/>
          </a:prstGeom>
        </p:spPr>
      </p:pic>
      <p:sp>
        <p:nvSpPr>
          <p:cNvPr id="10" name="Text 3">
            <a:extLst>
              <a:ext uri="{FF2B5EF4-FFF2-40B4-BE49-F238E27FC236}">
                <a16:creationId xmlns:a16="http://schemas.microsoft.com/office/drawing/2014/main" id="{DA52C0CD-1981-A4FD-6738-099E153745D5}"/>
              </a:ext>
            </a:extLst>
          </p:cNvPr>
          <p:cNvSpPr/>
          <p:nvPr/>
        </p:nvSpPr>
        <p:spPr>
          <a:xfrm>
            <a:off x="8248935" y="2002790"/>
            <a:ext cx="2457165" cy="524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 pts/sprint</a:t>
            </a:r>
            <a:endParaRPr lang="en-US" sz="2000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B6388A2B-A719-CCE7-1347-D1703DCD0F64}"/>
              </a:ext>
            </a:extLst>
          </p:cNvPr>
          <p:cNvSpPr/>
          <p:nvPr/>
        </p:nvSpPr>
        <p:spPr>
          <a:xfrm>
            <a:off x="8248935" y="2478277"/>
            <a:ext cx="2457165" cy="3984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Velocity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A5645D03-B7FC-5D45-65AC-BFD998BD968D}"/>
              </a:ext>
            </a:extLst>
          </p:cNvPr>
          <p:cNvSpPr/>
          <p:nvPr/>
        </p:nvSpPr>
        <p:spPr>
          <a:xfrm>
            <a:off x="7531428" y="3145789"/>
            <a:ext cx="3311832" cy="1205825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A99114AF-6920-893F-0BE5-DEC30CE843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1799" y="3521540"/>
            <a:ext cx="373916" cy="373916"/>
          </a:xfrm>
          <a:prstGeom prst="rect">
            <a:avLst/>
          </a:prstGeom>
        </p:spPr>
      </p:pic>
      <p:sp>
        <p:nvSpPr>
          <p:cNvPr id="14" name="Text 6">
            <a:extLst>
              <a:ext uri="{FF2B5EF4-FFF2-40B4-BE49-F238E27FC236}">
                <a16:creationId xmlns:a16="http://schemas.microsoft.com/office/drawing/2014/main" id="{23F37A35-B12D-BA04-21FD-7E82954B7A40}"/>
              </a:ext>
            </a:extLst>
          </p:cNvPr>
          <p:cNvSpPr/>
          <p:nvPr/>
        </p:nvSpPr>
        <p:spPr>
          <a:xfrm>
            <a:off x="8248935" y="3237230"/>
            <a:ext cx="2457165" cy="524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197</a:t>
            </a:r>
            <a:endParaRPr lang="en-US" sz="2000" dirty="0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98D89686-5684-4CA5-86B2-80C66BE428B9}"/>
              </a:ext>
            </a:extLst>
          </p:cNvPr>
          <p:cNvSpPr/>
          <p:nvPr/>
        </p:nvSpPr>
        <p:spPr>
          <a:xfrm>
            <a:off x="8248935" y="3712717"/>
            <a:ext cx="2457165" cy="3984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Commits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AB31E37C-65D9-C2AA-4BFD-095ED6507460}"/>
              </a:ext>
            </a:extLst>
          </p:cNvPr>
          <p:cNvSpPr/>
          <p:nvPr/>
        </p:nvSpPr>
        <p:spPr>
          <a:xfrm>
            <a:off x="7531428" y="4380229"/>
            <a:ext cx="3311832" cy="1205825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>
            <a:extLst>
              <a:ext uri="{FF2B5EF4-FFF2-40B4-BE49-F238E27FC236}">
                <a16:creationId xmlns:a16="http://schemas.microsoft.com/office/drawing/2014/main" id="{D1528139-F123-4C6B-5AEF-F018C29B5A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1799" y="4727365"/>
            <a:ext cx="373916" cy="373916"/>
          </a:xfrm>
          <a:prstGeom prst="rect">
            <a:avLst/>
          </a:prstGeom>
        </p:spPr>
      </p:pic>
      <p:sp>
        <p:nvSpPr>
          <p:cNvPr id="18" name="Text 9">
            <a:extLst>
              <a:ext uri="{FF2B5EF4-FFF2-40B4-BE49-F238E27FC236}">
                <a16:creationId xmlns:a16="http://schemas.microsoft.com/office/drawing/2014/main" id="{DDEEFBF2-DA57-1329-CBB8-16971C82641F}"/>
              </a:ext>
            </a:extLst>
          </p:cNvPr>
          <p:cNvSpPr/>
          <p:nvPr/>
        </p:nvSpPr>
        <p:spPr>
          <a:xfrm>
            <a:off x="8248935" y="4471670"/>
            <a:ext cx="2457165" cy="524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</a:rPr>
              <a:t>62</a:t>
            </a:r>
            <a:endParaRPr lang="en-US" sz="2000" dirty="0"/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A624C20D-DAD1-F2AE-F4F7-0C6B8D6BA0CB}"/>
              </a:ext>
            </a:extLst>
          </p:cNvPr>
          <p:cNvSpPr/>
          <p:nvPr/>
        </p:nvSpPr>
        <p:spPr>
          <a:xfrm>
            <a:off x="8248935" y="4947157"/>
            <a:ext cx="2457165" cy="3984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Issues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6938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54000" y="-184150"/>
            <a:ext cx="1981200" cy="1143000"/>
          </a:xfrm>
        </p:spPr>
        <p:txBody>
          <a:bodyPr>
            <a:normAutofit/>
          </a:bodyPr>
          <a:lstStyle/>
          <a:p>
            <a:r>
              <a:rPr lang="en-US" sz="5400" b="1"/>
              <a:t>demo</a:t>
            </a:r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DFC47375-5E5D-1C94-91D8-A1196D9958AC}"/>
              </a:ext>
            </a:extLst>
          </p:cNvPr>
          <p:cNvSpPr/>
          <p:nvPr/>
        </p:nvSpPr>
        <p:spPr>
          <a:xfrm>
            <a:off x="394970" y="95885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chemeClr val="accent1">
                    <a:lumMod val="75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User Story: Filter Recipes</a:t>
            </a:r>
            <a:endParaRPr lang="en-US" sz="280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4785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/>
              <a:t>Thank you for listening! </a:t>
            </a:r>
          </a:p>
        </p:txBody>
      </p:sp>
      <p:pic>
        <p:nvPicPr>
          <p:cNvPr id="6" name="Picture Placeholder 5" descr="Businessman in thumbs up">
            <a:extLst>
              <a:ext uri="{FF2B5EF4-FFF2-40B4-BE49-F238E27FC236}">
                <a16:creationId xmlns:a16="http://schemas.microsoft.com/office/drawing/2014/main" id="{9F662396-E163-A5B8-CDBF-E5D792671DC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86" r="1058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566160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Health Fitness 16x9">
  <a:themeElements>
    <a:clrScheme name="HealthFitness">
      <a:dk1>
        <a:srgbClr val="595959"/>
      </a:dk1>
      <a:lt1>
        <a:sysClr val="window" lastClr="FFFFFF"/>
      </a:lt1>
      <a:dk2>
        <a:srgbClr val="000000"/>
      </a:dk2>
      <a:lt2>
        <a:srgbClr val="DDDDDD"/>
      </a:lt2>
      <a:accent1>
        <a:srgbClr val="87A91B"/>
      </a:accent1>
      <a:accent2>
        <a:srgbClr val="FBCE11"/>
      </a:accent2>
      <a:accent3>
        <a:srgbClr val="446ED8"/>
      </a:accent3>
      <a:accent4>
        <a:srgbClr val="9D22E2"/>
      </a:accent4>
      <a:accent5>
        <a:srgbClr val="FE9E00"/>
      </a:accent5>
      <a:accent6>
        <a:srgbClr val="DF5327"/>
      </a:accent6>
      <a:hlink>
        <a:srgbClr val="446ED8"/>
      </a:hlink>
      <a:folHlink>
        <a:srgbClr val="828282"/>
      </a:folHlink>
    </a:clrScheme>
    <a:fontScheme name="Calibri Light">
      <a:majorFont>
        <a:latin typeface="Calibri Light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alth and fitness presentation (widescreen).potx" id="{ABFD658B-2256-413B-9244-0F977A0B2D12}" vid="{E4CB021D-C859-4C82-BDBB-2F2FACCF0D80}"/>
    </a:ext>
  </a:extLst>
</a:theme>
</file>

<file path=ppt/theme/theme2.xml><?xml version="1.0" encoding="utf-8"?>
<a:theme xmlns:a="http://schemas.openxmlformats.org/drawingml/2006/main" name="Office Theme">
  <a:themeElements>
    <a:clrScheme name="HealthFitness">
      <a:dk1>
        <a:srgbClr val="595959"/>
      </a:dk1>
      <a:lt1>
        <a:sysClr val="window" lastClr="FFFFFF"/>
      </a:lt1>
      <a:dk2>
        <a:srgbClr val="000000"/>
      </a:dk2>
      <a:lt2>
        <a:srgbClr val="DDDDDD"/>
      </a:lt2>
      <a:accent1>
        <a:srgbClr val="87A91B"/>
      </a:accent1>
      <a:accent2>
        <a:srgbClr val="FBCE11"/>
      </a:accent2>
      <a:accent3>
        <a:srgbClr val="446ED8"/>
      </a:accent3>
      <a:accent4>
        <a:srgbClr val="9D22E2"/>
      </a:accent4>
      <a:accent5>
        <a:srgbClr val="FE9E00"/>
      </a:accent5>
      <a:accent6>
        <a:srgbClr val="DF5327"/>
      </a:accent6>
      <a:hlink>
        <a:srgbClr val="446ED8"/>
      </a:hlink>
      <a:folHlink>
        <a:srgbClr val="828282"/>
      </a:folHlink>
    </a:clrScheme>
    <a:fontScheme name="Calibri Light">
      <a:majorFont>
        <a:latin typeface="Calibri Light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HealthFitness">
      <a:dk1>
        <a:srgbClr val="595959"/>
      </a:dk1>
      <a:lt1>
        <a:sysClr val="window" lastClr="FFFFFF"/>
      </a:lt1>
      <a:dk2>
        <a:srgbClr val="000000"/>
      </a:dk2>
      <a:lt2>
        <a:srgbClr val="DDDDDD"/>
      </a:lt2>
      <a:accent1>
        <a:srgbClr val="87A91B"/>
      </a:accent1>
      <a:accent2>
        <a:srgbClr val="FBCE11"/>
      </a:accent2>
      <a:accent3>
        <a:srgbClr val="446ED8"/>
      </a:accent3>
      <a:accent4>
        <a:srgbClr val="9D22E2"/>
      </a:accent4>
      <a:accent5>
        <a:srgbClr val="FE9E00"/>
      </a:accent5>
      <a:accent6>
        <a:srgbClr val="DF5327"/>
      </a:accent6>
      <a:hlink>
        <a:srgbClr val="446ED8"/>
      </a:hlink>
      <a:folHlink>
        <a:srgbClr val="828282"/>
      </a:folHlink>
    </a:clrScheme>
    <a:fontScheme name="Calibri Light">
      <a:majorFont>
        <a:latin typeface="Calibri Light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Health and fitness presentation (widescreen)</Template>
  <TotalTime>0</TotalTime>
  <Words>199</Words>
  <Application>Microsoft Office PowerPoint</Application>
  <PresentationFormat>Widescreen</PresentationFormat>
  <Paragraphs>60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Trebuchet MS</vt:lpstr>
      <vt:lpstr>Health Fitness 16x9</vt:lpstr>
      <vt:lpstr>mealmajor</vt:lpstr>
      <vt:lpstr>Problem statement</vt:lpstr>
      <vt:lpstr>Solution overview</vt:lpstr>
      <vt:lpstr>Solution overview</vt:lpstr>
      <vt:lpstr>Solution overview</vt:lpstr>
      <vt:lpstr>Competitive edge</vt:lpstr>
      <vt:lpstr>Competitive edge</vt:lpstr>
      <vt:lpstr>Product overview</vt:lpstr>
      <vt:lpstr>Process overview</vt:lpstr>
      <vt:lpstr>demo</vt:lpstr>
      <vt:lpstr>Thank you for listening!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Frederic Gagne</dc:creator>
  <cp:lastModifiedBy>Frederic Gagne</cp:lastModifiedBy>
  <cp:revision>2</cp:revision>
  <dcterms:created xsi:type="dcterms:W3CDTF">2026-04-09T20:26:16Z</dcterms:created>
  <dcterms:modified xsi:type="dcterms:W3CDTF">2026-04-13T22:03:24Z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</Properties>
</file>